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0" y="0"/>
            <a:ext cx="4416552" cy="685800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46720" y="0"/>
            <a:ext cx="109728" cy="685800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321040" y="457200"/>
            <a:ext cx="64008" cy="64008"/>
          </a:xfrm>
          <a:prstGeom prst="ellipse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732519" y="457200"/>
            <a:ext cx="64008" cy="64008"/>
          </a:xfrm>
          <a:prstGeom prst="ellipse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0" y="457200"/>
            <a:ext cx="64008" cy="64008"/>
          </a:xfrm>
          <a:prstGeom prst="ellipse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555480" y="457200"/>
            <a:ext cx="64008" cy="64008"/>
          </a:xfrm>
          <a:prstGeom prst="ellipse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966960" y="457200"/>
            <a:ext cx="64008" cy="64008"/>
          </a:xfrm>
          <a:prstGeom prst="ellipse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378440" y="457200"/>
            <a:ext cx="64008" cy="64008"/>
          </a:xfrm>
          <a:prstGeom prst="ellipse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789920" y="457200"/>
            <a:ext cx="64008" cy="64008"/>
          </a:xfrm>
          <a:prstGeom prst="ellipse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01400" y="457200"/>
            <a:ext cx="64008" cy="64008"/>
          </a:xfrm>
          <a:prstGeom prst="ellipse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21040" y="1234440"/>
            <a:ext cx="64008" cy="64008"/>
          </a:xfrm>
          <a:prstGeom prst="ellipse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732519" y="1234440"/>
            <a:ext cx="64008" cy="64008"/>
          </a:xfrm>
          <a:prstGeom prst="ellipse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144000" y="1234440"/>
            <a:ext cx="64008" cy="64008"/>
          </a:xfrm>
          <a:prstGeom prst="ellipse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555480" y="1234440"/>
            <a:ext cx="64008" cy="64008"/>
          </a:xfrm>
          <a:prstGeom prst="ellipse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966960" y="1234440"/>
            <a:ext cx="64008" cy="64008"/>
          </a:xfrm>
          <a:prstGeom prst="ellipse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78440" y="1234440"/>
            <a:ext cx="64008" cy="64008"/>
          </a:xfrm>
          <a:prstGeom prst="ellipse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789920" y="1234440"/>
            <a:ext cx="64008" cy="64008"/>
          </a:xfrm>
          <a:prstGeom prst="ellipse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1234440"/>
            <a:ext cx="64008" cy="64008"/>
          </a:xfrm>
          <a:prstGeom prst="ellipse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321040" y="2011680"/>
            <a:ext cx="64008" cy="64008"/>
          </a:xfrm>
          <a:prstGeom prst="ellipse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732519" y="2011680"/>
            <a:ext cx="64008" cy="64008"/>
          </a:xfrm>
          <a:prstGeom prst="ellipse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0" y="2011680"/>
            <a:ext cx="64008" cy="64008"/>
          </a:xfrm>
          <a:prstGeom prst="ellipse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55480" y="2011680"/>
            <a:ext cx="64008" cy="64008"/>
          </a:xfrm>
          <a:prstGeom prst="ellipse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966960" y="2011680"/>
            <a:ext cx="64008" cy="64008"/>
          </a:xfrm>
          <a:prstGeom prst="ellipse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378440" y="2011680"/>
            <a:ext cx="64008" cy="64008"/>
          </a:xfrm>
          <a:prstGeom prst="ellipse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789920" y="2011680"/>
            <a:ext cx="64008" cy="64008"/>
          </a:xfrm>
          <a:prstGeom prst="ellipse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201400" y="2011680"/>
            <a:ext cx="64008" cy="64008"/>
          </a:xfrm>
          <a:prstGeom prst="ellipse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321040" y="2788920"/>
            <a:ext cx="64008" cy="64008"/>
          </a:xfrm>
          <a:prstGeom prst="ellipse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732519" y="2788920"/>
            <a:ext cx="64008" cy="64008"/>
          </a:xfrm>
          <a:prstGeom prst="ellipse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144000" y="2788920"/>
            <a:ext cx="64008" cy="64008"/>
          </a:xfrm>
          <a:prstGeom prst="ellipse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555480" y="2788920"/>
            <a:ext cx="64008" cy="64008"/>
          </a:xfrm>
          <a:prstGeom prst="ellipse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966960" y="2788920"/>
            <a:ext cx="64008" cy="64008"/>
          </a:xfrm>
          <a:prstGeom prst="ellipse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378440" y="2788920"/>
            <a:ext cx="64008" cy="64008"/>
          </a:xfrm>
          <a:prstGeom prst="ellipse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789920" y="2788920"/>
            <a:ext cx="64008" cy="64008"/>
          </a:xfrm>
          <a:prstGeom prst="ellipse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201400" y="2788920"/>
            <a:ext cx="64008" cy="64008"/>
          </a:xfrm>
          <a:prstGeom prst="ellipse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321040" y="3566160"/>
            <a:ext cx="64008" cy="64008"/>
          </a:xfrm>
          <a:prstGeom prst="ellipse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732519" y="3566160"/>
            <a:ext cx="64008" cy="64008"/>
          </a:xfrm>
          <a:prstGeom prst="ellipse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144000" y="3566160"/>
            <a:ext cx="64008" cy="64008"/>
          </a:xfrm>
          <a:prstGeom prst="ellipse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555480" y="3566160"/>
            <a:ext cx="64008" cy="64008"/>
          </a:xfrm>
          <a:prstGeom prst="ellipse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966960" y="3566160"/>
            <a:ext cx="64008" cy="64008"/>
          </a:xfrm>
          <a:prstGeom prst="ellipse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378440" y="3566160"/>
            <a:ext cx="64008" cy="64008"/>
          </a:xfrm>
          <a:prstGeom prst="ellipse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789920" y="3566160"/>
            <a:ext cx="64008" cy="64008"/>
          </a:xfrm>
          <a:prstGeom prst="ellipse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201400" y="3566160"/>
            <a:ext cx="64008" cy="64008"/>
          </a:xfrm>
          <a:prstGeom prst="ellipse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321040" y="4343400"/>
            <a:ext cx="64008" cy="64008"/>
          </a:xfrm>
          <a:prstGeom prst="ellipse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732519" y="4343400"/>
            <a:ext cx="64008" cy="64008"/>
          </a:xfrm>
          <a:prstGeom prst="ellipse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144000" y="4343400"/>
            <a:ext cx="64008" cy="64008"/>
          </a:xfrm>
          <a:prstGeom prst="ellipse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555480" y="4343400"/>
            <a:ext cx="64008" cy="64008"/>
          </a:xfrm>
          <a:prstGeom prst="ellipse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966960" y="4343400"/>
            <a:ext cx="64008" cy="64008"/>
          </a:xfrm>
          <a:prstGeom prst="ellipse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378440" y="4343400"/>
            <a:ext cx="64008" cy="64008"/>
          </a:xfrm>
          <a:prstGeom prst="ellipse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789920" y="4343400"/>
            <a:ext cx="64008" cy="64008"/>
          </a:xfrm>
          <a:prstGeom prst="ellipse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1201400" y="4343400"/>
            <a:ext cx="64008" cy="64008"/>
          </a:xfrm>
          <a:prstGeom prst="ellipse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11480" y="365760"/>
            <a:ext cx="1280160" cy="384048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38912" y="420624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ITAÚ UNIBANCO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11480" y="960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C7000"/>
                </a:solidFill>
                <a:latin typeface="Calibri"/>
              </a:rPr>
              <a:t>INOVAÇÃO &amp; TECNOLOGIA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1480" y="1417320"/>
            <a:ext cx="7132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Gestão de Releases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11480" y="2331720"/>
            <a:ext cx="7132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5A623"/>
                </a:solidFill>
                <a:latin typeface="Calibri"/>
              </a:rPr>
              <a:t>com Inteligência Artificial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11480" y="3429000"/>
            <a:ext cx="6949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F0F0"/>
                </a:solidFill>
                <a:latin typeface="Calibri"/>
              </a:rPr>
              <a:t>Como a IA da Claude transformou semanas de desenvolvimento
em horas — entregando uma ferramenta completa de gestão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11480" y="4663440"/>
            <a:ext cx="3200400" cy="4572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11480" y="48006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C8C8C"/>
                </a:solidFill>
                <a:latin typeface="Calibri"/>
              </a:rPr>
              <a:t>Apresentação para Gerentes e Superintendentes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11480" y="51206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C8C8C"/>
                </a:solidFill>
                <a:latin typeface="Calibri"/>
              </a:rPr>
              <a:t>Rafael de Lima Santos  ·  2026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412480" y="109728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0" b="1" i="0">
                <a:solidFill>
                  <a:srgbClr val="FFFFFF"/>
                </a:solidFill>
                <a:latin typeface="Calibri"/>
              </a:rPr>
              <a:t>IA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503920" y="438912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C7000"/>
                </a:solidFill>
                <a:latin typeface="Calibri"/>
              </a:rPr>
              <a:t>Inteligência
Artificial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" y="63093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C7000"/>
                </a:solidFill>
                <a:latin typeface="Calibr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20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C7000"/>
                </a:solidFill>
                <a:latin typeface="Calibri"/>
              </a:rPr>
              <a:t>O DESAFIO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0080"/>
            <a:ext cx="7772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A2E"/>
                </a:solidFill>
                <a:latin typeface="Calibri"/>
              </a:rPr>
              <a:t>Gerenciar Releases é complexo
e consome tempo valioso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993392"/>
            <a:ext cx="1097280" cy="4572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286000"/>
            <a:ext cx="292608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286000"/>
            <a:ext cx="54864" cy="192024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0392" y="2450592"/>
            <a:ext cx="475488" cy="475488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87168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0358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A1A2E"/>
                </a:solidFill>
                <a:latin typeface="Calibri"/>
              </a:rPr>
              <a:t>Controle Manual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401568"/>
            <a:ext cx="2606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4A4A"/>
                </a:solidFill>
                <a:latin typeface="Calibri"/>
              </a:rPr>
              <a:t>Planilhas desconexas e processos manuais para acompanhar sprints, horas e entregas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0" y="2286000"/>
            <a:ext cx="292608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40480" y="2286000"/>
            <a:ext cx="54864" cy="192024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005072" y="2450592"/>
            <a:ext cx="475488" cy="475488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05072" y="2487168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30358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A1A2E"/>
                </a:solidFill>
                <a:latin typeface="Calibri"/>
              </a:rPr>
              <a:t>Sem Visibilidade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3401568"/>
            <a:ext cx="2606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4A4A"/>
                </a:solidFill>
                <a:latin typeface="Calibri"/>
              </a:rPr>
              <a:t>Dificuldade de enxergar capacidade real da equipe, férias e disponibilidade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4572000"/>
            <a:ext cx="292608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572000"/>
            <a:ext cx="54864" cy="192024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50392" y="4736592"/>
            <a:ext cx="475488" cy="475488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" y="4773168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3218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A1A2E"/>
                </a:solidFill>
                <a:latin typeface="Calibri"/>
              </a:rPr>
              <a:t>Riscos Ocultos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687568"/>
            <a:ext cx="2606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4A4A"/>
                </a:solidFill>
                <a:latin typeface="Calibri"/>
              </a:rPr>
              <a:t>Histórias mal estimadas passam despercebidas até virar bloqueio na sprint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0" y="4572000"/>
            <a:ext cx="292608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840480" y="4572000"/>
            <a:ext cx="54864" cy="192024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005072" y="4736592"/>
            <a:ext cx="475488" cy="475488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005072" y="4773168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23360" y="53218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A1A2E"/>
                </a:solidFill>
                <a:latin typeface="Calibri"/>
              </a:rPr>
              <a:t>Retrabalho Constante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23360" y="5687568"/>
            <a:ext cx="2606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4A4A"/>
                </a:solidFill>
                <a:latin typeface="Calibri"/>
              </a:rPr>
              <a:t>Dados duplicados em diferentes ferramentas sem fonte única de verdade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40880" y="2148840"/>
            <a:ext cx="4828032" cy="443484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69480" y="2423160"/>
            <a:ext cx="4480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Sem uma ferramenta
adequada, o time perde
foco no que importa: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269480" y="3931920"/>
            <a:ext cx="4206240" cy="36576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69480" y="4069080"/>
            <a:ext cx="4480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5A623"/>
                </a:solidFill>
                <a:latin typeface="Calibri"/>
              </a:rPr>
              <a:t>entregar valor
ao negócio.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69480" y="5166360"/>
            <a:ext cx="4480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0F0F0"/>
                </a:solidFill>
                <a:latin typeface="Calibri"/>
              </a:rPr>
              <a:t>A complexidade operacional
consume até 30% do tempo
de gestão das equipes.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" y="63093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C7000"/>
                </a:solidFill>
                <a:latin typeface="Calibr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20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C7000"/>
                </a:solidFill>
                <a:latin typeface="Calibri"/>
              </a:rPr>
              <a:t>A SOLUÇÃO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008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A2E"/>
                </a:solidFill>
                <a:latin typeface="Calibri"/>
              </a:rPr>
              <a:t>Release Dashboard — Uma ferramenta
completa desenvolvida com IA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920240"/>
            <a:ext cx="1097280" cy="4572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057400"/>
            <a:ext cx="6583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A4A4A"/>
                </a:solidFill>
                <a:latin typeface="Calibri"/>
              </a:rPr>
              <a:t>Uma aplicação desktop moderna que centraliza toda a gestão de Releases — do planejamento ao acompanhamento — com persistência em Excel, interface visual e automação de cálculos.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926080"/>
            <a:ext cx="457200" cy="45720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0175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294436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Planejamento de Sprints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3163824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4A4A"/>
                </a:solidFill>
                <a:latin typeface="Calibri"/>
              </a:rPr>
              <a:t>Datas, status e progresso de toda a Release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611880"/>
            <a:ext cx="457200" cy="45720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7033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EQ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363016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Capacidade da Equipe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61872" y="3849624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4A4A"/>
                </a:solidFill>
                <a:latin typeface="Calibri"/>
              </a:rPr>
              <a:t>Horas disponíveis, férias e cerimônias por membro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4297680"/>
            <a:ext cx="457200" cy="45720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3891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61872" y="431596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DoR &amp; Riscos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1872" y="4535424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4A4A"/>
                </a:solidFill>
                <a:latin typeface="Calibri"/>
              </a:rPr>
              <a:t>Indicadores visuais de risco por histórias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4983480"/>
            <a:ext cx="457200" cy="45720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0749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GT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61872" y="500176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Gantt Interativo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61872" y="5221224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4A4A"/>
                </a:solidFill>
                <a:latin typeface="Calibri"/>
              </a:rPr>
              <a:t>Timeline visual com avatares e distribuição de tarefas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5669280"/>
            <a:ext cx="457200" cy="45720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7607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XLS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61872" y="568756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Persistência Excel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61872" y="5907024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4A4A"/>
                </a:solidFill>
                <a:latin typeface="Calibri"/>
              </a:rPr>
              <a:t>Dados salvos automaticamente em planilha .xlsx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0" y="1920240"/>
            <a:ext cx="4645152" cy="4709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43800" y="21031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C7000"/>
                </a:solidFill>
                <a:latin typeface="Calibri"/>
              </a:rPr>
              <a:t>TECNOLOGIAS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43800" y="2487168"/>
            <a:ext cx="4114800" cy="36576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498079" y="2651760"/>
            <a:ext cx="438912" cy="347472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8079" y="2697479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1000" y="2660903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React 18 + Vite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01000" y="2907791"/>
            <a:ext cx="3566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0F0F0"/>
                </a:solidFill>
                <a:latin typeface="Calibri"/>
              </a:rPr>
              <a:t>Interface moderna e reativa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8079" y="3346704"/>
            <a:ext cx="438912" cy="347472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98079" y="3392424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01000" y="335584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Electron.js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01000" y="3602736"/>
            <a:ext cx="3566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0F0F0"/>
                </a:solidFill>
                <a:latin typeface="Calibri"/>
              </a:rPr>
              <a:t>App desktop nativo Windows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98079" y="4041648"/>
            <a:ext cx="438912" cy="347472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98079" y="4087368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XL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01000" y="4050791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Excel (.xlsx)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01000" y="4297680"/>
            <a:ext cx="3566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0F0F0"/>
                </a:solidFill>
                <a:latin typeface="Calibri"/>
              </a:rPr>
              <a:t>Persistência profissional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98079" y="4736592"/>
            <a:ext cx="438912" cy="347472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98079" y="4782312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TW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01000" y="474573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Tailwind CSS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01000" y="4992624"/>
            <a:ext cx="3566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0F0F0"/>
                </a:solidFill>
                <a:latin typeface="Calibri"/>
              </a:rPr>
              <a:t>Design responsivo e moderno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498079" y="5431536"/>
            <a:ext cx="438912" cy="347472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498079" y="5477255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AS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01000" y="5440679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ASAR Protection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01000" y="5687568"/>
            <a:ext cx="3566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0F0F0"/>
                </a:solidFill>
                <a:latin typeface="Calibri"/>
              </a:rPr>
              <a:t>Código protegido e seguro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" y="63093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C7000"/>
                </a:solidFill>
                <a:latin typeface="Calibr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20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C7000"/>
                </a:solidFill>
                <a:latin typeface="Calibri"/>
              </a:rPr>
              <a:t>COMO FUNCIONA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00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A2E"/>
                </a:solidFill>
                <a:latin typeface="Calibri"/>
              </a:rPr>
              <a:t>Quatro módulos integrados
para uma gestão completa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828800"/>
            <a:ext cx="1097280" cy="4572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965960"/>
            <a:ext cx="5440680" cy="475488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0574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Sprints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532888"/>
            <a:ext cx="91440" cy="9144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487168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4A4A"/>
                </a:solidFill>
                <a:latin typeface="Calibri"/>
              </a:rPr>
              <a:t>Visualize todas as sprints da Release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2862072"/>
            <a:ext cx="91440" cy="9144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816351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4A4A"/>
                </a:solidFill>
                <a:latin typeface="Calibri"/>
              </a:rPr>
              <a:t>Acompanhe datas de início e fim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191256"/>
            <a:ext cx="91440" cy="9144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145535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4A4A"/>
                </a:solidFill>
                <a:latin typeface="Calibri"/>
              </a:rPr>
              <a:t>Monitore o status em tempo real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3520440"/>
            <a:ext cx="91440" cy="9144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474720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4A4A"/>
                </a:solidFill>
                <a:latin typeface="Calibri"/>
              </a:rPr>
              <a:t>Gerencie o backlog por sprint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1965960"/>
            <a:ext cx="5440680" cy="475488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0574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Equipe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37960" y="2532888"/>
            <a:ext cx="91440" cy="9144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2487168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4A4A"/>
                </a:solidFill>
                <a:latin typeface="Calibri"/>
              </a:rPr>
              <a:t>Perfil de cada membro com foto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37960" y="2862072"/>
            <a:ext cx="91440" cy="9144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0840" y="2816351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4A4A"/>
                </a:solidFill>
                <a:latin typeface="Calibri"/>
              </a:rPr>
              <a:t>Horas: projeto, férias e cerimônias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37960" y="3191256"/>
            <a:ext cx="91440" cy="9144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3145535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4A4A"/>
                </a:solidFill>
                <a:latin typeface="Calibri"/>
              </a:rPr>
              <a:t>Capacidade total disponível por sprint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37960" y="3520440"/>
            <a:ext cx="91440" cy="9144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20840" y="3474720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4A4A"/>
                </a:solidFill>
                <a:latin typeface="Calibri"/>
              </a:rPr>
              <a:t>Alertas de sobrecarga automáticos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4160520"/>
            <a:ext cx="5440680" cy="475488"/>
          </a:xfrm>
          <a:prstGeom prst="rect">
            <a:avLst/>
          </a:prstGeom>
          <a:solidFill>
            <a:srgbClr val="059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4251959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Histórias &amp; DoR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4727448"/>
            <a:ext cx="91440" cy="91440"/>
          </a:xfrm>
          <a:prstGeom prst="rect">
            <a:avLst/>
          </a:prstGeom>
          <a:solidFill>
            <a:srgbClr val="059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4681728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4A4A"/>
                </a:solidFill>
                <a:latin typeface="Calibri"/>
              </a:rPr>
              <a:t>Cadastro de histórias por projeto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" y="5056632"/>
            <a:ext cx="91440" cy="91440"/>
          </a:xfrm>
          <a:prstGeom prst="rect">
            <a:avLst/>
          </a:prstGeom>
          <a:solidFill>
            <a:srgbClr val="059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" y="5010912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4A4A"/>
                </a:solidFill>
                <a:latin typeface="Calibri"/>
              </a:rPr>
              <a:t>Estimativa em horas e story points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" y="5385816"/>
            <a:ext cx="91440" cy="91440"/>
          </a:xfrm>
          <a:prstGeom prst="rect">
            <a:avLst/>
          </a:prstGeom>
          <a:solidFill>
            <a:srgbClr val="059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40" y="5340096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4A4A"/>
                </a:solidFill>
                <a:latin typeface="Calibri"/>
              </a:rPr>
              <a:t>Sinalização de risco: Verde / Amarelo / Vermelho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" y="5715000"/>
            <a:ext cx="91440" cy="91440"/>
          </a:xfrm>
          <a:prstGeom prst="rect">
            <a:avLst/>
          </a:prstGeom>
          <a:solidFill>
            <a:srgbClr val="059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669280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4A4A"/>
                </a:solidFill>
                <a:latin typeface="Calibri"/>
              </a:rPr>
              <a:t>Responsável por história com avatar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0" y="4160520"/>
            <a:ext cx="5440680" cy="47548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37960" y="4251959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Gantt Visual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37960" y="4727448"/>
            <a:ext cx="91440" cy="914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20840" y="4681728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4A4A"/>
                </a:solidFill>
                <a:latin typeface="Calibri"/>
              </a:rPr>
              <a:t>Timeline da Release completa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37960" y="5056632"/>
            <a:ext cx="91440" cy="914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20840" y="5010912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4A4A"/>
                </a:solidFill>
                <a:latin typeface="Calibri"/>
              </a:rPr>
              <a:t>Barras por sprint com avatares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37960" y="5385816"/>
            <a:ext cx="91440" cy="914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20840" y="5340096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4A4A"/>
                </a:solidFill>
                <a:latin typeface="Calibri"/>
              </a:rPr>
              <a:t>Distribuição visual de carga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37960" y="5715000"/>
            <a:ext cx="91440" cy="914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720840" y="5669280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4A4A"/>
                </a:solidFill>
                <a:latin typeface="Calibri"/>
              </a:rPr>
              <a:t>Exportação automática em Excel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" y="137160"/>
            <a:ext cx="45720" cy="45720"/>
          </a:xfrm>
          <a:prstGeom prst="ellipse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697479" y="137160"/>
            <a:ext cx="45720" cy="45720"/>
          </a:xfrm>
          <a:prstGeom prst="ellipse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303519" y="137160"/>
            <a:ext cx="45720" cy="45720"/>
          </a:xfrm>
          <a:prstGeom prst="ellipse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909559" y="137160"/>
            <a:ext cx="45720" cy="45720"/>
          </a:xfrm>
          <a:prstGeom prst="ellipse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15599" y="137160"/>
            <a:ext cx="45720" cy="45720"/>
          </a:xfrm>
          <a:prstGeom prst="ellipse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828800" y="960120"/>
            <a:ext cx="45720" cy="45720"/>
          </a:xfrm>
          <a:prstGeom prst="ellipse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434840" y="960120"/>
            <a:ext cx="45720" cy="45720"/>
          </a:xfrm>
          <a:prstGeom prst="ellipse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040879" y="960120"/>
            <a:ext cx="45720" cy="45720"/>
          </a:xfrm>
          <a:prstGeom prst="ellipse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646919" y="960120"/>
            <a:ext cx="45720" cy="45720"/>
          </a:xfrm>
          <a:prstGeom prst="ellipse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0120" y="1783080"/>
            <a:ext cx="45720" cy="45720"/>
          </a:xfrm>
          <a:prstGeom prst="ellipse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66160" y="1783080"/>
            <a:ext cx="45720" cy="45720"/>
          </a:xfrm>
          <a:prstGeom prst="ellipse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172199" y="1783080"/>
            <a:ext cx="45720" cy="45720"/>
          </a:xfrm>
          <a:prstGeom prst="ellipse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78240" y="1783080"/>
            <a:ext cx="45720" cy="45720"/>
          </a:xfrm>
          <a:prstGeom prst="ellipse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384280" y="1783080"/>
            <a:ext cx="45720" cy="45720"/>
          </a:xfrm>
          <a:prstGeom prst="ellipse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" y="2606040"/>
            <a:ext cx="45720" cy="45720"/>
          </a:xfrm>
          <a:prstGeom prst="ellipse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697479" y="2606040"/>
            <a:ext cx="45720" cy="45720"/>
          </a:xfrm>
          <a:prstGeom prst="ellipse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303519" y="2606040"/>
            <a:ext cx="45720" cy="45720"/>
          </a:xfrm>
          <a:prstGeom prst="ellipse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909559" y="2606040"/>
            <a:ext cx="45720" cy="45720"/>
          </a:xfrm>
          <a:prstGeom prst="ellipse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515599" y="2606040"/>
            <a:ext cx="45720" cy="45720"/>
          </a:xfrm>
          <a:prstGeom prst="ellipse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828800" y="3429000"/>
            <a:ext cx="45720" cy="45720"/>
          </a:xfrm>
          <a:prstGeom prst="ellipse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434840" y="3429000"/>
            <a:ext cx="45720" cy="45720"/>
          </a:xfrm>
          <a:prstGeom prst="ellipse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040879" y="3429000"/>
            <a:ext cx="45720" cy="45720"/>
          </a:xfrm>
          <a:prstGeom prst="ellipse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646919" y="3429000"/>
            <a:ext cx="45720" cy="45720"/>
          </a:xfrm>
          <a:prstGeom prst="ellipse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60120" y="4251960"/>
            <a:ext cx="45720" cy="45720"/>
          </a:xfrm>
          <a:prstGeom prst="ellipse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566160" y="4251960"/>
            <a:ext cx="45720" cy="45720"/>
          </a:xfrm>
          <a:prstGeom prst="ellipse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172199" y="4251960"/>
            <a:ext cx="45720" cy="45720"/>
          </a:xfrm>
          <a:prstGeom prst="ellipse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778240" y="4251960"/>
            <a:ext cx="45720" cy="45720"/>
          </a:xfrm>
          <a:prstGeom prst="ellipse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1384280" y="4251960"/>
            <a:ext cx="45720" cy="45720"/>
          </a:xfrm>
          <a:prstGeom prst="ellipse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440" y="5074920"/>
            <a:ext cx="45720" cy="45720"/>
          </a:xfrm>
          <a:prstGeom prst="ellipse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697479" y="5074920"/>
            <a:ext cx="45720" cy="45720"/>
          </a:xfrm>
          <a:prstGeom prst="ellipse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303519" y="5074920"/>
            <a:ext cx="45720" cy="45720"/>
          </a:xfrm>
          <a:prstGeom prst="ellipse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909559" y="5074920"/>
            <a:ext cx="45720" cy="45720"/>
          </a:xfrm>
          <a:prstGeom prst="ellipse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515599" y="5074920"/>
            <a:ext cx="45720" cy="45720"/>
          </a:xfrm>
          <a:prstGeom prst="ellipse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828800" y="5897880"/>
            <a:ext cx="45720" cy="45720"/>
          </a:xfrm>
          <a:prstGeom prst="ellipse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434840" y="5897880"/>
            <a:ext cx="45720" cy="45720"/>
          </a:xfrm>
          <a:prstGeom prst="ellipse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040879" y="5897880"/>
            <a:ext cx="45720" cy="45720"/>
          </a:xfrm>
          <a:prstGeom prst="ellipse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646919" y="5897880"/>
            <a:ext cx="45720" cy="45720"/>
          </a:xfrm>
          <a:prstGeom prst="ellipse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274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C7000"/>
                </a:solidFill>
                <a:latin typeface="Calibri"/>
              </a:rPr>
              <a:t>PODER DA IA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621792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Desenvolvido com Claude AI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1371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5A623"/>
                </a:solidFill>
                <a:latin typeface="Calibri"/>
              </a:rPr>
              <a:t>Do conceito à produção em tempo recorde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" y="1874519"/>
            <a:ext cx="1371600" cy="4572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40080" y="2057400"/>
            <a:ext cx="2606040" cy="173736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0080" y="2057400"/>
            <a:ext cx="2606040" cy="64008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77240" y="2194560"/>
            <a:ext cx="2331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5A623"/>
                </a:solidFill>
                <a:latin typeface="Calibri"/>
              </a:rPr>
              <a:t>&lt; 1 dia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7240" y="2926080"/>
            <a:ext cx="2331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F0F0"/>
                </a:solidFill>
                <a:latin typeface="Calibri"/>
              </a:rPr>
              <a:t>de desenvolvimento
completo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520439" y="2057400"/>
            <a:ext cx="2606040" cy="173736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520439" y="2057400"/>
            <a:ext cx="2606040" cy="64008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57599" y="2194560"/>
            <a:ext cx="2331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5A623"/>
                </a:solidFill>
                <a:latin typeface="Calibri"/>
              </a:rPr>
              <a:t>1.500+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57599" y="2926080"/>
            <a:ext cx="2331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F0F0"/>
                </a:solidFill>
                <a:latin typeface="Calibri"/>
              </a:rPr>
              <a:t>linhas de código
geradas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00800" y="2057400"/>
            <a:ext cx="2606040" cy="173736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400800" y="2057400"/>
            <a:ext cx="2606040" cy="64008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537960" y="2194560"/>
            <a:ext cx="2331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5A623"/>
                </a:solidFill>
                <a:latin typeface="Calibri"/>
              </a:rP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37960" y="2926080"/>
            <a:ext cx="2331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F0F0"/>
                </a:solidFill>
                <a:latin typeface="Calibri"/>
              </a:rPr>
              <a:t>módulos completos
entregues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281159" y="2057400"/>
            <a:ext cx="2606040" cy="173736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281159" y="2057400"/>
            <a:ext cx="2606040" cy="64008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418319" y="2194560"/>
            <a:ext cx="2331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5A623"/>
                </a:solidFill>
                <a:latin typeface="Calibri"/>
              </a:rPr>
              <a:t>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418319" y="2926080"/>
            <a:ext cx="2331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F0F0"/>
                </a:solidFill>
                <a:latin typeface="Calibri"/>
              </a:rPr>
              <a:t>bugs críticos
no lançamento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0080" y="3931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C7000"/>
                </a:solidFill>
                <a:latin typeface="Calibri"/>
              </a:rPr>
              <a:t>COMO ACONTECEU</a:t>
            </a:r>
          </a:p>
        </p:txBody>
      </p:sp>
      <p:sp>
        <p:nvSpPr>
          <p:cNvPr id="63" name="Oval 62"/>
          <p:cNvSpPr/>
          <p:nvPr/>
        </p:nvSpPr>
        <p:spPr>
          <a:xfrm>
            <a:off x="1444752" y="4343400"/>
            <a:ext cx="457200" cy="457200"/>
          </a:xfrm>
          <a:prstGeom prst="ellipse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444752" y="437083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920239" y="4544568"/>
            <a:ext cx="128016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234440" y="48920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Briefing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43000" y="5212080"/>
            <a:ext cx="1691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0F0F0"/>
                </a:solidFill>
                <a:latin typeface="Calibri"/>
              </a:rPr>
              <a:t>Descrição do problema
e requisitos ao Claude</a:t>
            </a:r>
          </a:p>
        </p:txBody>
      </p:sp>
      <p:sp>
        <p:nvSpPr>
          <p:cNvPr id="68" name="Oval 67"/>
          <p:cNvSpPr/>
          <p:nvPr/>
        </p:nvSpPr>
        <p:spPr>
          <a:xfrm>
            <a:off x="3657600" y="4343400"/>
            <a:ext cx="457200" cy="457200"/>
          </a:xfrm>
          <a:prstGeom prst="ellipse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657600" y="437083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133087" y="4544568"/>
            <a:ext cx="128016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447288" y="48920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Arquitetura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355848" y="5212080"/>
            <a:ext cx="1691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0F0F0"/>
                </a:solidFill>
                <a:latin typeface="Calibri"/>
              </a:rPr>
              <a:t>Claude projetou toda a
estrutura técnica</a:t>
            </a:r>
          </a:p>
        </p:txBody>
      </p:sp>
      <p:sp>
        <p:nvSpPr>
          <p:cNvPr id="73" name="Oval 72"/>
          <p:cNvSpPr/>
          <p:nvPr/>
        </p:nvSpPr>
        <p:spPr>
          <a:xfrm>
            <a:off x="5870448" y="4343400"/>
            <a:ext cx="457200" cy="457200"/>
          </a:xfrm>
          <a:prstGeom prst="ellipse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870448" y="437083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345936" y="4544568"/>
            <a:ext cx="128016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660136" y="48920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Código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568696" y="5212080"/>
            <a:ext cx="1691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0F0F0"/>
                </a:solidFill>
                <a:latin typeface="Calibri"/>
              </a:rPr>
              <a:t>Geração automática de
todos os módulos</a:t>
            </a:r>
          </a:p>
        </p:txBody>
      </p:sp>
      <p:sp>
        <p:nvSpPr>
          <p:cNvPr id="78" name="Oval 77"/>
          <p:cNvSpPr/>
          <p:nvPr/>
        </p:nvSpPr>
        <p:spPr>
          <a:xfrm>
            <a:off x="8083296" y="4343400"/>
            <a:ext cx="457200" cy="457200"/>
          </a:xfrm>
          <a:prstGeom prst="ellipse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083296" y="437083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558784" y="4544568"/>
            <a:ext cx="128016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872983" y="48920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Refinamento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781544" y="5212080"/>
            <a:ext cx="1691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0F0F0"/>
                </a:solidFill>
                <a:latin typeface="Calibri"/>
              </a:rPr>
              <a:t>Iterações rápidas para
ajustes e melhorias</a:t>
            </a:r>
          </a:p>
        </p:txBody>
      </p:sp>
      <p:sp>
        <p:nvSpPr>
          <p:cNvPr id="83" name="Oval 82"/>
          <p:cNvSpPr/>
          <p:nvPr/>
        </p:nvSpPr>
        <p:spPr>
          <a:xfrm>
            <a:off x="10296144" y="4343400"/>
            <a:ext cx="457200" cy="457200"/>
          </a:xfrm>
          <a:prstGeom prst="ellipse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0296144" y="437083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085832" y="48920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Entrega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994392" y="5212080"/>
            <a:ext cx="1691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0F0F0"/>
                </a:solidFill>
                <a:latin typeface="Calibri"/>
              </a:rPr>
              <a:t>App completo, testado
e funcionando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" y="63093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C7000"/>
                </a:solidFill>
                <a:latin typeface="Calibri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20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C7000"/>
                </a:solidFill>
                <a:latin typeface="Calibri"/>
              </a:rPr>
              <a:t>BENEFÍCIOS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00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A2E"/>
                </a:solidFill>
                <a:latin typeface="Calibri"/>
              </a:rPr>
              <a:t>Impacto real para as equipes
e para o negócio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828800"/>
            <a:ext cx="1097280" cy="4572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011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2D72"/>
                </a:solidFill>
                <a:latin typeface="Calibri"/>
              </a:rPr>
              <a:t>GANHOS OPERACIONAIS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468880"/>
            <a:ext cx="475488" cy="475488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587752"/>
            <a:ext cx="475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5h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487168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Economize até 5h/semana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724912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4A4A"/>
                </a:solidFill>
                <a:latin typeface="Calibri"/>
              </a:rPr>
              <a:t>Eliminação de planilhas manuais e reuniões de status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273552"/>
            <a:ext cx="475488" cy="475488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392424"/>
            <a:ext cx="475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VIS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291840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Visibilidade em tempo real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529584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4A4A"/>
                </a:solidFill>
                <a:latin typeface="Calibri"/>
              </a:rPr>
              <a:t>Capacidade da equipe, férias e risco sempre atualizados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4078224"/>
            <a:ext cx="475488" cy="475488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97096"/>
            <a:ext cx="475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DEC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096511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Decisões mais rápidas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334256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4A4A"/>
                </a:solidFill>
                <a:latin typeface="Calibri"/>
              </a:rPr>
              <a:t>Dashboards visuais substituem relatórios manuais lentos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4882896"/>
            <a:ext cx="475488" cy="475488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001768"/>
            <a:ext cx="475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901183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Alertas preventivos de risco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5138928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4A4A"/>
                </a:solidFill>
                <a:latin typeface="Calibri"/>
              </a:rPr>
              <a:t>DoR visual evita surpresas nas sprints e atrasos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49440" y="1737360"/>
            <a:ext cx="5010912" cy="4937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78040" y="1920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C7000"/>
                </a:solidFill>
                <a:latin typeface="Calibri"/>
              </a:rPr>
              <a:t>IMPACTO ESTRATÉGICO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78040" y="2304288"/>
            <a:ext cx="438912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178040" y="2468880"/>
            <a:ext cx="438912" cy="347472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78040" y="2523744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PAD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99248" y="2478024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Padronização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99248" y="2724912"/>
            <a:ext cx="4023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0F0"/>
                </a:solidFill>
                <a:latin typeface="Calibri"/>
              </a:rPr>
              <a:t>Processo único de gestão
para todos os times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78040" y="3218688"/>
            <a:ext cx="438912" cy="347472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78040" y="3273552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ESC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99248" y="322783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Escalabilidade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99248" y="3474720"/>
            <a:ext cx="4023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0F0"/>
                </a:solidFill>
                <a:latin typeface="Calibri"/>
              </a:rPr>
              <a:t>De uma equipe para toda
a organização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78040" y="3968496"/>
            <a:ext cx="438912" cy="347472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78040" y="4023359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INT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99248" y="3977639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Integração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99248" y="4224528"/>
            <a:ext cx="4023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0F0"/>
                </a:solidFill>
                <a:latin typeface="Calibri"/>
              </a:rPr>
              <a:t>Excel como fonte única
de verdade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178040" y="4718304"/>
            <a:ext cx="438912" cy="347472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78040" y="4773168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RAT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99248" y="472744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Rastreabilidade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99248" y="4974336"/>
            <a:ext cx="4023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0F0"/>
                </a:solidFill>
                <a:latin typeface="Calibri"/>
              </a:rPr>
              <a:t>Histórico completo de
cada Release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178040" y="5468112"/>
            <a:ext cx="438912" cy="347472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178040" y="5522976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IA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99248" y="5477256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IA como Alavanca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99248" y="5724144"/>
            <a:ext cx="4023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0F0"/>
                </a:solidFill>
                <a:latin typeface="Calibri"/>
              </a:rPr>
              <a:t>Ferramenta criada em &lt; 1 dia
com Claude 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" y="63093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C7000"/>
                </a:solidFill>
                <a:latin typeface="Calibri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20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C7000"/>
                </a:solidFill>
                <a:latin typeface="Calibri"/>
              </a:rPr>
              <a:t>VISÃO &amp; POTENCIAL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00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A2E"/>
                </a:solidFill>
                <a:latin typeface="Calibri"/>
              </a:rPr>
              <a:t>IA como vantagem competitiva
para o Itaú Unibanco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828800"/>
            <a:ext cx="1097280" cy="4572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011680"/>
            <a:ext cx="2560320" cy="530352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075688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VELOCIDADE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542032"/>
            <a:ext cx="256032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2542032"/>
            <a:ext cx="64008" cy="173736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697480"/>
            <a:ext cx="2240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Calibri"/>
              </a:rPr>
              <a:t>Ferramentas que levariam
meses para desenvolver
agora são criadas em dias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93008" y="2011680"/>
            <a:ext cx="2560320" cy="530352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84448" y="2075688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QUALIDADE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93008" y="2542032"/>
            <a:ext cx="256032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93008" y="2542032"/>
            <a:ext cx="64008" cy="173736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5887" y="2697480"/>
            <a:ext cx="2240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Calibri"/>
              </a:rPr>
              <a:t>Código limpo, testado
e com as melhores
práticas de mercado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0216" y="2011680"/>
            <a:ext cx="2560320" cy="530352"/>
          </a:xfrm>
          <a:prstGeom prst="rect">
            <a:avLst/>
          </a:prstGeom>
          <a:solidFill>
            <a:srgbClr val="059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91655" y="2075688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INOVAÇÃO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0216" y="2542032"/>
            <a:ext cx="256032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0216" y="2542032"/>
            <a:ext cx="64008" cy="1737360"/>
          </a:xfrm>
          <a:prstGeom prst="rect">
            <a:avLst/>
          </a:prstGeom>
          <a:solidFill>
            <a:srgbClr val="059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3096" y="2697480"/>
            <a:ext cx="2240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Calibri"/>
              </a:rPr>
              <a:t>Equipes focam em
solucionar problemas,
não em escrever código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07424" y="2011680"/>
            <a:ext cx="2560320" cy="5303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98863" y="2075688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ESCALA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07424" y="2542032"/>
            <a:ext cx="256032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07424" y="2542032"/>
            <a:ext cx="64008" cy="17373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90303" y="2697480"/>
            <a:ext cx="2240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Calibri"/>
              </a:rPr>
              <a:t>O mesmo método pode
criar dezenas de
ferramentas para o banco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4480560"/>
            <a:ext cx="11274552" cy="214884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617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C7000"/>
                </a:solidFill>
                <a:latin typeface="Calibri"/>
              </a:rPr>
              <a:t>O QUE MAIS PODEMOS CRIAR?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" y="5010912"/>
            <a:ext cx="10515600" cy="36576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14400" y="5138928"/>
            <a:ext cx="1920240" cy="13258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5285232"/>
            <a:ext cx="1737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Dashboard de KPIs
em tempo real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063240" y="5138928"/>
            <a:ext cx="1920240" cy="13258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154680" y="5285232"/>
            <a:ext cx="1737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Automação de
relatórios gerenciais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212080" y="5138928"/>
            <a:ext cx="1920240" cy="13258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03520" y="5285232"/>
            <a:ext cx="1737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Monitoramento
de SLAs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60920" y="5138928"/>
            <a:ext cx="1920240" cy="13258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52360" y="5285232"/>
            <a:ext cx="1737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Gestão de
orçamento por squad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509760" y="5138928"/>
            <a:ext cx="1920240" cy="13258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01200" y="5285232"/>
            <a:ext cx="1737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Análise preditiva
de capacidade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58000" y="457200"/>
            <a:ext cx="54864" cy="54864"/>
          </a:xfrm>
          <a:prstGeom prst="ellipse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321040" y="457200"/>
            <a:ext cx="54864" cy="54864"/>
          </a:xfrm>
          <a:prstGeom prst="ellipse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784080" y="457200"/>
            <a:ext cx="54864" cy="54864"/>
          </a:xfrm>
          <a:prstGeom prst="ellipse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589520" y="1463040"/>
            <a:ext cx="54864" cy="54864"/>
          </a:xfrm>
          <a:prstGeom prst="ellipse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052560" y="1463040"/>
            <a:ext cx="54864" cy="54864"/>
          </a:xfrm>
          <a:prstGeom prst="ellipse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515600" y="1463040"/>
            <a:ext cx="54864" cy="54864"/>
          </a:xfrm>
          <a:prstGeom prst="ellipse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858000" y="2468880"/>
            <a:ext cx="54864" cy="54864"/>
          </a:xfrm>
          <a:prstGeom prst="ellipse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321040" y="2468880"/>
            <a:ext cx="54864" cy="54864"/>
          </a:xfrm>
          <a:prstGeom prst="ellipse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784080" y="2468880"/>
            <a:ext cx="54864" cy="54864"/>
          </a:xfrm>
          <a:prstGeom prst="ellipse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589520" y="3474720"/>
            <a:ext cx="54864" cy="54864"/>
          </a:xfrm>
          <a:prstGeom prst="ellipse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052560" y="3474720"/>
            <a:ext cx="54864" cy="54864"/>
          </a:xfrm>
          <a:prstGeom prst="ellipse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515600" y="3474720"/>
            <a:ext cx="54864" cy="54864"/>
          </a:xfrm>
          <a:prstGeom prst="ellipse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858000" y="4480560"/>
            <a:ext cx="54864" cy="54864"/>
          </a:xfrm>
          <a:prstGeom prst="ellipse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321040" y="4480560"/>
            <a:ext cx="54864" cy="54864"/>
          </a:xfrm>
          <a:prstGeom prst="ellipse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84080" y="4480560"/>
            <a:ext cx="54864" cy="54864"/>
          </a:xfrm>
          <a:prstGeom prst="ellipse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65760"/>
            <a:ext cx="1371600" cy="402336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" y="420624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ITAÚ UNIBANCO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960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C7000"/>
                </a:solidFill>
                <a:latin typeface="Calibri"/>
              </a:rPr>
              <a:t>CONCLUSÃO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13258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A IA não é o futuro 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20574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5A623"/>
                </a:solidFill>
                <a:latin typeface="Calibri"/>
              </a:rPr>
              <a:t>é o presente do Itaú.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2926080"/>
            <a:ext cx="1645920" cy="4572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063240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0F0F0"/>
                </a:solidFill>
                <a:latin typeface="Calibri"/>
              </a:rPr>
              <a:t>Esta ferramenta de gestão de Releases prova que com o uso inteligente de IA,
podemos criar soluções complexas rapidamente e com alta qualidade.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3977639"/>
            <a:ext cx="347472" cy="347472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" y="3986783"/>
            <a:ext cx="329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" y="3995928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Ferramenta completa desenvolvida em menos de 1 dia com Claude AI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480559"/>
            <a:ext cx="347472" cy="347472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" y="4489703"/>
            <a:ext cx="329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" y="4498848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Impacto direto na produtividade das equipes de tecnologia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4983480"/>
            <a:ext cx="347472" cy="347472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" y="4992624"/>
            <a:ext cx="329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" y="5001768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Modelo replicável para dezenas de outras soluções no banco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5852160"/>
            <a:ext cx="5486400" cy="36576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596188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C8C8C"/>
                </a:solidFill>
                <a:latin typeface="Calibri"/>
              </a:rPr>
              <a:t>Desenvolvido por Rafael de Lima Santos  ·  2026  ·  Itaú Unibanco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